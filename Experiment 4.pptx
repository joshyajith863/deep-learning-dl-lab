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9" r:id="rId4"/>
    <p:sldId id="260" r:id="rId5"/>
    <p:sldId id="264" r:id="rId6"/>
    <p:sldId id="261" r:id="rId7"/>
    <p:sldId id="262" r:id="rId8"/>
    <p:sldId id="263" r:id="rId9"/>
    <p:sldId id="257"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1"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D7479-A941-4E40-A39E-36C8C6BB6C08}" type="datetimeFigureOut">
              <a:rPr lang="en-IN" smtClean="0"/>
              <a:t>17-08-2026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EA3433-34C0-4B9F-AF87-0E3B6CE087A6}" type="slidenum">
              <a:rPr lang="en-IN" smtClean="0"/>
              <a:t>‹#›</a:t>
            </a:fld>
            <a:endParaRPr lang="en-IN"/>
          </a:p>
        </p:txBody>
      </p:sp>
    </p:spTree>
    <p:extLst>
      <p:ext uri="{BB962C8B-B14F-4D97-AF65-F5344CB8AC3E}">
        <p14:creationId xmlns:p14="http://schemas.microsoft.com/office/powerpoint/2010/main" val="3963309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EA3433-34C0-4B9F-AF87-0E3B6CE087A6}" type="slidenum">
              <a:rPr lang="en-IN" smtClean="0"/>
              <a:t>5</a:t>
            </a:fld>
            <a:endParaRPr lang="en-IN"/>
          </a:p>
        </p:txBody>
      </p:sp>
    </p:spTree>
    <p:extLst>
      <p:ext uri="{BB962C8B-B14F-4D97-AF65-F5344CB8AC3E}">
        <p14:creationId xmlns:p14="http://schemas.microsoft.com/office/powerpoint/2010/main" val="4047738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95AF-28C8-C1F0-037D-BA36FC90FE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447F67-CA0C-7271-EB7A-56C28CF6B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578D14-A346-E9F8-4553-E362835B8CBC}"/>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5" name="Footer Placeholder 4">
            <a:extLst>
              <a:ext uri="{FF2B5EF4-FFF2-40B4-BE49-F238E27FC236}">
                <a16:creationId xmlns:a16="http://schemas.microsoft.com/office/drawing/2014/main" id="{2A78C931-F3D0-B31A-549C-2E484AD1E3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F0D62-5823-50B5-6982-5B0A20A476E5}"/>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3935850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C28C3-4338-6982-D911-BEDB774FF1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B1F64E-09DA-805A-0791-5B9AACE077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F58646-953D-70C6-35D8-70EA3D555240}"/>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5" name="Footer Placeholder 4">
            <a:extLst>
              <a:ext uri="{FF2B5EF4-FFF2-40B4-BE49-F238E27FC236}">
                <a16:creationId xmlns:a16="http://schemas.microsoft.com/office/drawing/2014/main" id="{D9E9EB74-CAAA-82EA-68EE-09F6FB5BA6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23DC0-A9F4-EEDB-7823-293932F48AA4}"/>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3212627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32724-B1E8-6F44-95EA-3485D61510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A40220-C080-5FB6-1AC2-4A2105EE30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26EC8B-425C-4C84-16CB-16B2870D6BCD}"/>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5" name="Footer Placeholder 4">
            <a:extLst>
              <a:ext uri="{FF2B5EF4-FFF2-40B4-BE49-F238E27FC236}">
                <a16:creationId xmlns:a16="http://schemas.microsoft.com/office/drawing/2014/main" id="{C2E54AF8-A359-5A07-71D3-320ACBF0DA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325C7-2553-FD4F-0E83-D90EBCBEC29C}"/>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393940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B4CA-8886-9C05-C0BB-12D48EC56A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A55C61-5AB3-7FFD-F36C-D4FE4A623B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D40C6A-4739-F374-8DB2-FE9A067D46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096AF8-CC89-4C59-366F-5A9CAB4A2185}"/>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6" name="Footer Placeholder 5">
            <a:extLst>
              <a:ext uri="{FF2B5EF4-FFF2-40B4-BE49-F238E27FC236}">
                <a16:creationId xmlns:a16="http://schemas.microsoft.com/office/drawing/2014/main" id="{E6FA29AA-B46A-9C26-AF2F-BD8E8081C9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9E21EB-DEB6-55EB-7F8F-05A58C92A54A}"/>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1042817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2D9EA-E965-8D6B-B09C-63B05C4727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371651-5319-7E87-8C9A-38EF5A0B1E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36AB88-8C0F-E77B-BA4D-6176CA47B9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3E8776-102D-60DB-941B-F70DDBC21B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E2CF57-1135-812C-7B55-C16B2B5411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51A7A9-4337-7D4C-9012-EADA09955E64}"/>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8" name="Footer Placeholder 7">
            <a:extLst>
              <a:ext uri="{FF2B5EF4-FFF2-40B4-BE49-F238E27FC236}">
                <a16:creationId xmlns:a16="http://schemas.microsoft.com/office/drawing/2014/main" id="{5970B9D9-2875-AB1B-FD48-5CB0FE8B8C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3CEE42-668E-1D67-445D-9A4DE4FC78A1}"/>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3797263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89CD-34F3-BFED-FCC2-CD79BE97EB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E4BF95-1BC7-EB76-D067-35F6634E2F44}"/>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4" name="Footer Placeholder 3">
            <a:extLst>
              <a:ext uri="{FF2B5EF4-FFF2-40B4-BE49-F238E27FC236}">
                <a16:creationId xmlns:a16="http://schemas.microsoft.com/office/drawing/2014/main" id="{B7D5495F-D88F-77B0-2971-A1591642F5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025738-677C-2F13-FF53-FE6EF69FE371}"/>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1955757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1CAB2D-AD89-6FDE-FE01-DDFAC1BB30FA}"/>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3" name="Footer Placeholder 2">
            <a:extLst>
              <a:ext uri="{FF2B5EF4-FFF2-40B4-BE49-F238E27FC236}">
                <a16:creationId xmlns:a16="http://schemas.microsoft.com/office/drawing/2014/main" id="{BBB89538-733A-BB22-B1F3-7E0315D340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01A075-0947-25FC-99CD-C7011749B1F4}"/>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3486401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7DE90-ECCA-E5A5-E06C-4E329C5DB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77454-5538-D25F-CCF1-74BE3221ED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C68530-7E62-44D1-FFD3-F269AFD1E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D5B349-BF0B-A276-5311-40DBFC47A6BE}"/>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6" name="Footer Placeholder 5">
            <a:extLst>
              <a:ext uri="{FF2B5EF4-FFF2-40B4-BE49-F238E27FC236}">
                <a16:creationId xmlns:a16="http://schemas.microsoft.com/office/drawing/2014/main" id="{F2FC8467-177C-1C49-DE11-183D9928CA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6B63E3-809E-9100-3A54-E9C940D22693}"/>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2706599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432B-A420-839B-DCEC-5867DAD67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CAFA13-019C-C9F3-B982-743A25DF3E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ADBF0E-6EBF-74EE-CE59-40A7851E89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D78F0-3473-E747-BD8E-7C270757CDD0}"/>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6" name="Footer Placeholder 5">
            <a:extLst>
              <a:ext uri="{FF2B5EF4-FFF2-40B4-BE49-F238E27FC236}">
                <a16:creationId xmlns:a16="http://schemas.microsoft.com/office/drawing/2014/main" id="{CEACB29B-430F-A725-04A7-59800CCD77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D4FDA-89E8-E7F2-4BC0-117D08FEEC54}"/>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3160703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667D1-D64F-2ADC-6EFA-63FE428B32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150E5E-8472-2DEE-AE8F-5B0CF39BEA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AD7FA5-6F06-5190-EC4C-E38D2948861F}"/>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5" name="Footer Placeholder 4">
            <a:extLst>
              <a:ext uri="{FF2B5EF4-FFF2-40B4-BE49-F238E27FC236}">
                <a16:creationId xmlns:a16="http://schemas.microsoft.com/office/drawing/2014/main" id="{0C3AB832-25B4-575E-20F9-1ABA17843A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5E0138-DCED-623D-18C2-BA578470A968}"/>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1243847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E53619-AD90-4320-0724-5208EB61E6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732B24-799D-A44C-094D-C8C3BB248E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D1E91-CD65-9C52-6082-4B93F794BF3C}"/>
              </a:ext>
            </a:extLst>
          </p:cNvPr>
          <p:cNvSpPr>
            <a:spLocks noGrp="1"/>
          </p:cNvSpPr>
          <p:nvPr>
            <p:ph type="dt" sz="half" idx="10"/>
          </p:nvPr>
        </p:nvSpPr>
        <p:spPr/>
        <p:txBody>
          <a:bodyPr/>
          <a:lstStyle/>
          <a:p>
            <a:fld id="{8E728858-F2E2-485D-AB5C-9A37C21CA1D6}" type="datetimeFigureOut">
              <a:rPr lang="en-IN" smtClean="0"/>
              <a:t>17-08-2026</a:t>
            </a:fld>
            <a:endParaRPr lang="en-IN"/>
          </a:p>
        </p:txBody>
      </p:sp>
      <p:sp>
        <p:nvSpPr>
          <p:cNvPr id="5" name="Footer Placeholder 4">
            <a:extLst>
              <a:ext uri="{FF2B5EF4-FFF2-40B4-BE49-F238E27FC236}">
                <a16:creationId xmlns:a16="http://schemas.microsoft.com/office/drawing/2014/main" id="{2B55CBF1-892C-410A-65DA-6A3D345C39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75CCE8-D92D-1DE2-2F60-64757F965324}"/>
              </a:ext>
            </a:extLst>
          </p:cNvPr>
          <p:cNvSpPr>
            <a:spLocks noGrp="1"/>
          </p:cNvSpPr>
          <p:nvPr>
            <p:ph type="sldNum" sz="quarter" idx="12"/>
          </p:nvPr>
        </p:nvSpPr>
        <p:spPr/>
        <p:txBody>
          <a:bodyPr/>
          <a:lstStyle/>
          <a:p>
            <a:fld id="{DCDDBE6E-AA0F-4946-B932-6B3C1DA37EEA}" type="slidenum">
              <a:rPr lang="en-IN" smtClean="0"/>
              <a:t>‹#›</a:t>
            </a:fld>
            <a:endParaRPr lang="en-IN"/>
          </a:p>
        </p:txBody>
      </p:sp>
    </p:spTree>
    <p:extLst>
      <p:ext uri="{BB962C8B-B14F-4D97-AF65-F5344CB8AC3E}">
        <p14:creationId xmlns:p14="http://schemas.microsoft.com/office/powerpoint/2010/main" val="1931862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073458-99E1-F170-8BA0-8E90150D24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7A7760-030A-BAA1-43A0-EC9E34CB4E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3EC873-5731-2B78-B211-EB573D7A09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28858-F2E2-485D-AB5C-9A37C21CA1D6}" type="datetimeFigureOut">
              <a:rPr lang="en-IN" smtClean="0"/>
              <a:t>17-08-2026</a:t>
            </a:fld>
            <a:endParaRPr lang="en-IN"/>
          </a:p>
        </p:txBody>
      </p:sp>
      <p:sp>
        <p:nvSpPr>
          <p:cNvPr id="5" name="Footer Placeholder 4">
            <a:extLst>
              <a:ext uri="{FF2B5EF4-FFF2-40B4-BE49-F238E27FC236}">
                <a16:creationId xmlns:a16="http://schemas.microsoft.com/office/drawing/2014/main" id="{0DECF150-F999-DBFE-9B5B-ED11B3930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75D1D1-0C2B-DCD1-B616-52DAD6F31B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DDBE6E-AA0F-4946-B932-6B3C1DA37EEA}" type="slidenum">
              <a:rPr lang="en-IN" smtClean="0"/>
              <a:t>‹#›</a:t>
            </a:fld>
            <a:endParaRPr lang="en-IN"/>
          </a:p>
        </p:txBody>
      </p:sp>
    </p:spTree>
    <p:extLst>
      <p:ext uri="{BB962C8B-B14F-4D97-AF65-F5344CB8AC3E}">
        <p14:creationId xmlns:p14="http://schemas.microsoft.com/office/powerpoint/2010/main" val="1930113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machine-learning/neural-networks-a-beginners-guid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machine-learning/dropout-in-neural-network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machine-learning/what-is-ridge-regression/" TargetMode="External"/><Relationship Id="rId2" Type="http://schemas.openxmlformats.org/officeDocument/2006/relationships/hyperlink" Target="https://www.geeksforgeeks.org/machine-learning/what-is-lasso-regressio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01954-C4EC-89AA-C49F-C782375176ED}"/>
              </a:ext>
            </a:extLst>
          </p:cNvPr>
          <p:cNvSpPr>
            <a:spLocks noGrp="1"/>
          </p:cNvSpPr>
          <p:nvPr>
            <p:ph type="ctrTitle"/>
          </p:nvPr>
        </p:nvSpPr>
        <p:spPr/>
        <p:txBody>
          <a:bodyPr/>
          <a:lstStyle/>
          <a:p>
            <a:r>
              <a:rPr lang="en-IN" dirty="0"/>
              <a:t>Experiment no: 4</a:t>
            </a:r>
          </a:p>
        </p:txBody>
      </p:sp>
      <p:sp>
        <p:nvSpPr>
          <p:cNvPr id="3" name="Subtitle 2">
            <a:extLst>
              <a:ext uri="{FF2B5EF4-FFF2-40B4-BE49-F238E27FC236}">
                <a16:creationId xmlns:a16="http://schemas.microsoft.com/office/drawing/2014/main" id="{4E194C1D-95FC-C3D6-C591-CFC80173945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71497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3F96F-48A6-45D9-6996-49FEB897E824}"/>
              </a:ext>
            </a:extLst>
          </p:cNvPr>
          <p:cNvSpPr>
            <a:spLocks noGrp="1"/>
          </p:cNvSpPr>
          <p:nvPr>
            <p:ph type="title"/>
          </p:nvPr>
        </p:nvSpPr>
        <p:spPr>
          <a:xfrm>
            <a:off x="199103" y="142568"/>
            <a:ext cx="10515600" cy="500114"/>
          </a:xfrm>
        </p:spPr>
        <p:txBody>
          <a:bodyPr>
            <a:normAutofit fontScale="90000"/>
          </a:bodyPr>
          <a:lstStyle/>
          <a:p>
            <a:r>
              <a:rPr lang="en-IN" dirty="0"/>
              <a:t>AIM</a:t>
            </a:r>
          </a:p>
        </p:txBody>
      </p:sp>
      <p:sp>
        <p:nvSpPr>
          <p:cNvPr id="3" name="Content Placeholder 2">
            <a:extLst>
              <a:ext uri="{FF2B5EF4-FFF2-40B4-BE49-F238E27FC236}">
                <a16:creationId xmlns:a16="http://schemas.microsoft.com/office/drawing/2014/main" id="{579DF8E3-4894-EB30-874E-20C9D1430B38}"/>
              </a:ext>
            </a:extLst>
          </p:cNvPr>
          <p:cNvSpPr>
            <a:spLocks noGrp="1"/>
          </p:cNvSpPr>
          <p:nvPr>
            <p:ph idx="1"/>
          </p:nvPr>
        </p:nvSpPr>
        <p:spPr>
          <a:xfrm>
            <a:off x="1408471" y="142568"/>
            <a:ext cx="10515600" cy="6223819"/>
          </a:xfrm>
        </p:spPr>
        <p:txBody>
          <a:bodyPr>
            <a:normAutofit fontScale="92500" lnSpcReduction="20000"/>
          </a:bodyPr>
          <a:lstStyle/>
          <a:p>
            <a:pPr algn="just"/>
            <a:r>
              <a:rPr lang="en-US" sz="2400" dirty="0"/>
              <a:t>Implement a feed forward neural network with three hidden layers for the CIFAR-10 dataset.</a:t>
            </a:r>
          </a:p>
          <a:p>
            <a:pPr algn="just"/>
            <a:r>
              <a:rPr lang="en-US" sz="2400" dirty="0"/>
              <a:t>Train the network using a baseline optimization algorithm, such as stochastic gradient descent (SGD) or Adam, without any specific weight initialization technique or regularization technique. </a:t>
            </a:r>
          </a:p>
          <a:p>
            <a:pPr algn="just"/>
            <a:r>
              <a:rPr lang="en-US" sz="2400" dirty="0"/>
              <a:t>Record the accuracy and loss during training.</a:t>
            </a:r>
          </a:p>
          <a:p>
            <a:pPr algn="just"/>
            <a:r>
              <a:rPr lang="en-US" sz="2400" dirty="0"/>
              <a:t> (a) Repeat the training process with Xavier initialization for weight initialization. Compare the convergence speed and accuracy of the network with the baseline results. Analyze the impact of Xavier initialization on the network's performance. </a:t>
            </a:r>
          </a:p>
          <a:p>
            <a:pPr algn="just">
              <a:lnSpc>
                <a:spcPct val="110000"/>
              </a:lnSpc>
            </a:pPr>
            <a:r>
              <a:rPr lang="en-US" sz="2400" dirty="0"/>
              <a:t>(b) Repeat the training process with Kaiming initialization for weight initialization. Compare the convergence speed and accuracy of the network with the baseline results. Analyze the impact of Kaiming initialization on the network's performance.</a:t>
            </a:r>
          </a:p>
          <a:p>
            <a:pPr algn="just"/>
            <a:r>
              <a:rPr lang="en-US" sz="2400" dirty="0"/>
              <a:t> (c) Implement dropout regularization by applying dropout to the hidden layers of the network. Train the network with dropout regularization and compare its performance with the baseline results. Analyze the impact of dropout on the network's performance in terms of accuracy and overfitting </a:t>
            </a:r>
          </a:p>
          <a:p>
            <a:pPr algn="just"/>
            <a:r>
              <a:rPr lang="en-US" sz="2400" dirty="0"/>
              <a:t>(d) Implement L1 or L2 regularization techniques by adding a regularization term to the loss function during training. Train the network with regularization and compare its performance with the baseline results. Analyze the impact of regularization on the network's performance in terms of accuracy and prevention of overfitting.</a:t>
            </a:r>
            <a:endParaRPr lang="en-IN" sz="2400" dirty="0"/>
          </a:p>
        </p:txBody>
      </p:sp>
    </p:spTree>
    <p:extLst>
      <p:ext uri="{BB962C8B-B14F-4D97-AF65-F5344CB8AC3E}">
        <p14:creationId xmlns:p14="http://schemas.microsoft.com/office/powerpoint/2010/main" val="1365782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EF480C-2C5A-BDE1-4988-714AE60636D0}"/>
              </a:ext>
            </a:extLst>
          </p:cNvPr>
          <p:cNvSpPr>
            <a:spLocks noGrp="1"/>
          </p:cNvSpPr>
          <p:nvPr>
            <p:ph idx="1"/>
          </p:nvPr>
        </p:nvSpPr>
        <p:spPr>
          <a:xfrm>
            <a:off x="838200" y="245806"/>
            <a:ext cx="10515600" cy="5931157"/>
          </a:xfrm>
        </p:spPr>
        <p:txBody>
          <a:bodyPr/>
          <a:lstStyle/>
          <a:p>
            <a:r>
              <a:rPr lang="en-US" dirty="0"/>
              <a:t>Implement a feed forward neural network with three hidden layers for the CIFAR-10 </a:t>
            </a:r>
            <a:r>
              <a:rPr lang="en-US" dirty="0" err="1"/>
              <a:t>dataset.Train</a:t>
            </a:r>
            <a:r>
              <a:rPr lang="en-US" dirty="0"/>
              <a:t> the network using a baseline optimization algorithm, such as stochastic gradient descent (SGD) or Adam, without any specific weight initialization technique or regularization technique. </a:t>
            </a:r>
          </a:p>
          <a:p>
            <a:pPr lvl="0">
              <a:buFont typeface="Wingdings" panose="05000000000000000000" pitchFamily="2" charset="2"/>
              <a:buChar char="Ø"/>
            </a:pPr>
            <a:r>
              <a:rPr lang="en-IN" dirty="0"/>
              <a:t>Hidden layer 1 → 512 neurons </a:t>
            </a:r>
          </a:p>
          <a:p>
            <a:pPr lvl="0">
              <a:buFont typeface="Wingdings" panose="05000000000000000000" pitchFamily="2" charset="2"/>
              <a:buChar char="Ø"/>
            </a:pPr>
            <a:r>
              <a:rPr lang="en-IN" dirty="0"/>
              <a:t>Hidden layer 2 → 256 neurons </a:t>
            </a:r>
          </a:p>
          <a:p>
            <a:pPr lvl="0">
              <a:buFont typeface="Wingdings" panose="05000000000000000000" pitchFamily="2" charset="2"/>
              <a:buChar char="Ø"/>
            </a:pPr>
            <a:r>
              <a:rPr lang="en-IN" dirty="0"/>
              <a:t>Hidden layer 3 → 64 neurons </a:t>
            </a:r>
          </a:p>
          <a:p>
            <a:pPr>
              <a:buFont typeface="Wingdings" panose="05000000000000000000" pitchFamily="2" charset="2"/>
              <a:buChar char="Ø"/>
            </a:pPr>
            <a:r>
              <a:rPr lang="en-IN" dirty="0"/>
              <a:t>The output layer has 10 neurons because CIFAR-10 has 10 classes.</a:t>
            </a:r>
          </a:p>
          <a:p>
            <a:pPr>
              <a:buFont typeface="Wingdings" panose="05000000000000000000" pitchFamily="2" charset="2"/>
              <a:buChar char="Ø"/>
            </a:pPr>
            <a:r>
              <a:rPr lang="en-IN" dirty="0"/>
              <a:t>Activation function : </a:t>
            </a:r>
            <a:r>
              <a:rPr lang="en-IN" dirty="0" err="1"/>
              <a:t>ReLu</a:t>
            </a:r>
            <a:r>
              <a:rPr lang="en-IN" dirty="0"/>
              <a:t> &amp; </a:t>
            </a:r>
            <a:r>
              <a:rPr lang="en-IN" dirty="0" err="1"/>
              <a:t>Softmax</a:t>
            </a:r>
            <a:endParaRPr lang="en-IN" dirty="0"/>
          </a:p>
          <a:p>
            <a:endParaRPr lang="en-IN" dirty="0"/>
          </a:p>
        </p:txBody>
      </p:sp>
    </p:spTree>
    <p:extLst>
      <p:ext uri="{BB962C8B-B14F-4D97-AF65-F5344CB8AC3E}">
        <p14:creationId xmlns:p14="http://schemas.microsoft.com/office/powerpoint/2010/main" val="1107684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D956-3E7B-A1DA-E661-7DD6882BBED2}"/>
              </a:ext>
            </a:extLst>
          </p:cNvPr>
          <p:cNvSpPr>
            <a:spLocks noGrp="1"/>
          </p:cNvSpPr>
          <p:nvPr>
            <p:ph type="title"/>
          </p:nvPr>
        </p:nvSpPr>
        <p:spPr>
          <a:xfrm>
            <a:off x="159774" y="0"/>
            <a:ext cx="10515600" cy="726256"/>
          </a:xfrm>
        </p:spPr>
        <p:txBody>
          <a:bodyPr/>
          <a:lstStyle/>
          <a:p>
            <a:r>
              <a:rPr lang="en-IN" dirty="0"/>
              <a:t>Adam optimizer</a:t>
            </a:r>
          </a:p>
        </p:txBody>
      </p:sp>
      <p:sp>
        <p:nvSpPr>
          <p:cNvPr id="3" name="Content Placeholder 2">
            <a:extLst>
              <a:ext uri="{FF2B5EF4-FFF2-40B4-BE49-F238E27FC236}">
                <a16:creationId xmlns:a16="http://schemas.microsoft.com/office/drawing/2014/main" id="{B98152B6-CF9E-73CD-A781-72D5391A03A2}"/>
              </a:ext>
            </a:extLst>
          </p:cNvPr>
          <p:cNvSpPr>
            <a:spLocks noGrp="1"/>
          </p:cNvSpPr>
          <p:nvPr>
            <p:ph idx="1"/>
          </p:nvPr>
        </p:nvSpPr>
        <p:spPr>
          <a:xfrm>
            <a:off x="838200" y="717756"/>
            <a:ext cx="10515600" cy="5459208"/>
          </a:xfrm>
        </p:spPr>
        <p:txBody>
          <a:bodyPr>
            <a:normAutofit lnSpcReduction="10000"/>
          </a:bodyPr>
          <a:lstStyle/>
          <a:p>
            <a:pPr algn="just"/>
            <a:r>
              <a:rPr lang="en-IN" dirty="0"/>
              <a:t>The Adam (Adaptive Moment Estimation) optimizer is a popular algorithm used to train deep learning models.</a:t>
            </a:r>
          </a:p>
          <a:p>
            <a:pPr algn="just"/>
            <a:r>
              <a:rPr lang="en-IN" dirty="0"/>
              <a:t>It works well with large datasets and complex models because it uses memory efficiently and adapts the learning rate for each parameter automatically.</a:t>
            </a:r>
          </a:p>
          <a:p>
            <a:pPr algn="just"/>
            <a:r>
              <a:rPr lang="en-IN" dirty="0"/>
              <a:t>Adam combines two optimization techniques, Momentum and </a:t>
            </a:r>
            <a:r>
              <a:rPr lang="en-IN" dirty="0" err="1"/>
              <a:t>RMSProp</a:t>
            </a:r>
            <a:r>
              <a:rPr lang="en-IN" dirty="0"/>
              <a:t>, to achieve faster and more stable training.</a:t>
            </a:r>
          </a:p>
          <a:p>
            <a:r>
              <a:rPr lang="en-IN" b="1" dirty="0"/>
              <a:t>Momentum -</a:t>
            </a:r>
            <a:r>
              <a:rPr lang="en-IN" dirty="0"/>
              <a:t>Remember the previous gradient.</a:t>
            </a:r>
          </a:p>
          <a:p>
            <a:r>
              <a:rPr lang="en-IN" b="1" dirty="0"/>
              <a:t>RMSprop -</a:t>
            </a:r>
            <a:r>
              <a:rPr lang="en-IN" dirty="0"/>
              <a:t>Adjust the step size according to the gradient size.</a:t>
            </a:r>
          </a:p>
          <a:p>
            <a:r>
              <a:rPr lang="en-IN" dirty="0"/>
              <a:t>Adam will do both.</a:t>
            </a:r>
          </a:p>
          <a:p>
            <a:pPr lvl="0"/>
            <a:r>
              <a:rPr lang="en-IN" dirty="0"/>
              <a:t>It automatically adjusts the </a:t>
            </a:r>
            <a:r>
              <a:rPr lang="en-IN" b="1" dirty="0"/>
              <a:t>learning rate for each parameter</a:t>
            </a:r>
            <a:r>
              <a:rPr lang="en-IN" dirty="0"/>
              <a:t>. </a:t>
            </a:r>
          </a:p>
          <a:p>
            <a:pPr lvl="0"/>
            <a:r>
              <a:rPr lang="en-IN" dirty="0"/>
              <a:t>It usually provides </a:t>
            </a:r>
            <a:r>
              <a:rPr lang="en-IN" b="1" dirty="0"/>
              <a:t>fast and stable convergence</a:t>
            </a:r>
            <a:r>
              <a:rPr lang="en-IN" dirty="0"/>
              <a:t>.</a:t>
            </a:r>
          </a:p>
          <a:p>
            <a:pPr algn="just" fontAlgn="base"/>
            <a:endParaRPr lang="en-IN" dirty="0"/>
          </a:p>
          <a:p>
            <a:pPr marL="0" indent="0" algn="just">
              <a:buNone/>
            </a:pPr>
            <a:endParaRPr lang="en-IN" dirty="0"/>
          </a:p>
          <a:p>
            <a:pPr algn="just"/>
            <a:endParaRPr lang="en-IN" dirty="0"/>
          </a:p>
        </p:txBody>
      </p:sp>
    </p:spTree>
    <p:extLst>
      <p:ext uri="{BB962C8B-B14F-4D97-AF65-F5344CB8AC3E}">
        <p14:creationId xmlns:p14="http://schemas.microsoft.com/office/powerpoint/2010/main" val="208769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83EB6-3B19-030C-877B-9F29C663E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147C-0537-B0CC-6809-03C3C9751A77}"/>
              </a:ext>
            </a:extLst>
          </p:cNvPr>
          <p:cNvSpPr>
            <a:spLocks noGrp="1"/>
          </p:cNvSpPr>
          <p:nvPr>
            <p:ph type="title"/>
          </p:nvPr>
        </p:nvSpPr>
        <p:spPr>
          <a:xfrm>
            <a:off x="159774" y="0"/>
            <a:ext cx="10515600" cy="726256"/>
          </a:xfrm>
        </p:spPr>
        <p:txBody>
          <a:bodyPr/>
          <a:lstStyle/>
          <a:p>
            <a:r>
              <a:rPr lang="en-IN" dirty="0"/>
              <a:t>Adam optimizer</a:t>
            </a:r>
          </a:p>
        </p:txBody>
      </p:sp>
      <p:sp>
        <p:nvSpPr>
          <p:cNvPr id="3" name="Content Placeholder 2">
            <a:extLst>
              <a:ext uri="{FF2B5EF4-FFF2-40B4-BE49-F238E27FC236}">
                <a16:creationId xmlns:a16="http://schemas.microsoft.com/office/drawing/2014/main" id="{18F930F6-D3A3-38A3-EBF8-E3EF256BD139}"/>
              </a:ext>
            </a:extLst>
          </p:cNvPr>
          <p:cNvSpPr>
            <a:spLocks noGrp="1"/>
          </p:cNvSpPr>
          <p:nvPr>
            <p:ph idx="1"/>
          </p:nvPr>
        </p:nvSpPr>
        <p:spPr>
          <a:xfrm>
            <a:off x="838200" y="717756"/>
            <a:ext cx="11194026" cy="5459208"/>
          </a:xfrm>
        </p:spPr>
        <p:txBody>
          <a:bodyPr>
            <a:normAutofit/>
          </a:bodyPr>
          <a:lstStyle/>
          <a:p>
            <a:pPr algn="just"/>
            <a:r>
              <a:rPr lang="en-IN" sz="2400" dirty="0"/>
              <a:t>Train the network using Adam, measure the error using categorical cross-entropy, and show me the accuracy.</a:t>
            </a:r>
          </a:p>
          <a:p>
            <a:pPr marL="457200" lvl="1" indent="0" algn="just">
              <a:lnSpc>
                <a:spcPct val="100000"/>
              </a:lnSpc>
              <a:buNone/>
            </a:pPr>
            <a:r>
              <a:rPr lang="en-IN" dirty="0" err="1">
                <a:solidFill>
                  <a:srgbClr val="C00000"/>
                </a:solidFill>
              </a:rPr>
              <a:t>baseline_model.compile</a:t>
            </a:r>
            <a:r>
              <a:rPr lang="en-IN" dirty="0">
                <a:solidFill>
                  <a:srgbClr val="C00000"/>
                </a:solidFill>
              </a:rPr>
              <a:t>(</a:t>
            </a:r>
          </a:p>
          <a:p>
            <a:pPr marL="457200" lvl="1" indent="0" algn="just">
              <a:lnSpc>
                <a:spcPct val="100000"/>
              </a:lnSpc>
              <a:buNone/>
            </a:pPr>
            <a:r>
              <a:rPr lang="en-IN" dirty="0">
                <a:solidFill>
                  <a:srgbClr val="C00000"/>
                </a:solidFill>
              </a:rPr>
              <a:t>      optimizer=</a:t>
            </a:r>
            <a:r>
              <a:rPr lang="en-IN" dirty="0" err="1">
                <a:solidFill>
                  <a:srgbClr val="C00000"/>
                </a:solidFill>
              </a:rPr>
              <a:t>adam_optimizer</a:t>
            </a:r>
            <a:r>
              <a:rPr lang="en-IN" dirty="0">
                <a:solidFill>
                  <a:srgbClr val="C00000"/>
                </a:solidFill>
              </a:rPr>
              <a:t>, // tells the model use Adam to update weight</a:t>
            </a:r>
          </a:p>
          <a:p>
            <a:pPr marL="457200" lvl="1" indent="0" algn="just">
              <a:lnSpc>
                <a:spcPct val="100000"/>
              </a:lnSpc>
              <a:buNone/>
            </a:pPr>
            <a:r>
              <a:rPr lang="en-IN" dirty="0">
                <a:solidFill>
                  <a:srgbClr val="C00000"/>
                </a:solidFill>
              </a:rPr>
              <a:t>      loss='</a:t>
            </a:r>
            <a:r>
              <a:rPr lang="en-IN" dirty="0" err="1">
                <a:solidFill>
                  <a:srgbClr val="C00000"/>
                </a:solidFill>
              </a:rPr>
              <a:t>categorical_crossentropy</a:t>
            </a:r>
            <a:r>
              <a:rPr lang="en-IN" dirty="0">
                <a:solidFill>
                  <a:srgbClr val="C00000"/>
                </a:solidFill>
              </a:rPr>
              <a:t>',    </a:t>
            </a:r>
          </a:p>
          <a:p>
            <a:pPr marL="457200" lvl="1" indent="0" algn="just">
              <a:lnSpc>
                <a:spcPct val="100000"/>
              </a:lnSpc>
              <a:buNone/>
            </a:pPr>
            <a:r>
              <a:rPr lang="en-IN" dirty="0">
                <a:solidFill>
                  <a:srgbClr val="C00000"/>
                </a:solidFill>
              </a:rPr>
              <a:t>      metrics=['accuracy’])</a:t>
            </a:r>
          </a:p>
          <a:p>
            <a:pPr algn="just"/>
            <a:r>
              <a:rPr lang="en-IN" dirty="0"/>
              <a:t>Then train the model and test the model with specific no: of epochs and </a:t>
            </a:r>
            <a:r>
              <a:rPr lang="en-IN" dirty="0" err="1"/>
              <a:t>batch_size</a:t>
            </a:r>
            <a:r>
              <a:rPr lang="en-IN" dirty="0"/>
              <a:t>. which gives the loss and accuracy rate of baseline model.[ use 5 for epoch and 64 for batch size]</a:t>
            </a:r>
          </a:p>
          <a:p>
            <a:pPr algn="just"/>
            <a:r>
              <a:rPr lang="en-IN" dirty="0"/>
              <a:t>Print the values of test loss, test accuracy and training time taken.</a:t>
            </a:r>
          </a:p>
        </p:txBody>
      </p:sp>
    </p:spTree>
    <p:extLst>
      <p:ext uri="{BB962C8B-B14F-4D97-AF65-F5344CB8AC3E}">
        <p14:creationId xmlns:p14="http://schemas.microsoft.com/office/powerpoint/2010/main" val="1968803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0C3895-3394-BF79-4003-517756A686BC}"/>
              </a:ext>
            </a:extLst>
          </p:cNvPr>
          <p:cNvSpPr>
            <a:spLocks noGrp="1"/>
          </p:cNvSpPr>
          <p:nvPr>
            <p:ph idx="1"/>
          </p:nvPr>
        </p:nvSpPr>
        <p:spPr>
          <a:xfrm>
            <a:off x="838200" y="196645"/>
            <a:ext cx="10515600" cy="5980318"/>
          </a:xfrm>
        </p:spPr>
        <p:txBody>
          <a:bodyPr>
            <a:normAutofit fontScale="92500" lnSpcReduction="10000"/>
          </a:bodyPr>
          <a:lstStyle/>
          <a:p>
            <a:r>
              <a:rPr lang="en-US" dirty="0"/>
              <a:t>Repeat the training process with Xavier initialization for weight initialization. Compare the convergence speed and accuracy of the network with the baseline results. Analyze the impact of Xavier initialization on the network's performance.</a:t>
            </a:r>
          </a:p>
          <a:p>
            <a:r>
              <a:rPr lang="en-US" b="1" u="sng" dirty="0"/>
              <a:t>What is Xavier initialization</a:t>
            </a:r>
          </a:p>
          <a:p>
            <a:pPr>
              <a:buFont typeface="Wingdings" panose="05000000000000000000" pitchFamily="2" charset="2"/>
              <a:buChar char="Ø"/>
            </a:pPr>
            <a:r>
              <a:rPr lang="en-IN" dirty="0"/>
              <a:t>Xavier initialization is a technique used to initialize the weights of neural network which solves the problem of vanishing and exploding gradients which can hinder the training of </a:t>
            </a:r>
            <a:r>
              <a:rPr lang="en-IN" u="sng" dirty="0">
                <a:hlinkClick r:id="rId2"/>
              </a:rPr>
              <a:t>deep neural networks</a:t>
            </a:r>
            <a:r>
              <a:rPr lang="en-IN" dirty="0"/>
              <a:t>.</a:t>
            </a:r>
          </a:p>
          <a:p>
            <a:r>
              <a:rPr lang="en-IN" dirty="0" err="1"/>
              <a:t>Keras</a:t>
            </a:r>
            <a:r>
              <a:rPr lang="en-IN" dirty="0"/>
              <a:t> automatically chooses initial values for the weights.</a:t>
            </a:r>
          </a:p>
          <a:p>
            <a:r>
              <a:rPr lang="en-IN" dirty="0"/>
              <a:t>With </a:t>
            </a:r>
            <a:r>
              <a:rPr lang="en-IN" b="1" dirty="0"/>
              <a:t>Xavier initialization</a:t>
            </a:r>
            <a:r>
              <a:rPr lang="en-IN" dirty="0"/>
              <a:t>, we deliberately choose the initial weights using the Xavier/</a:t>
            </a:r>
            <a:r>
              <a:rPr lang="en-IN" dirty="0" err="1"/>
              <a:t>Glorot</a:t>
            </a:r>
            <a:r>
              <a:rPr lang="en-IN" dirty="0"/>
              <a:t> method.</a:t>
            </a:r>
          </a:p>
          <a:p>
            <a:r>
              <a:rPr lang="en-IN" dirty="0"/>
              <a:t>The purpose is to keep the values of activations and gradients from becoming </a:t>
            </a:r>
            <a:r>
              <a:rPr lang="en-IN" b="1" dirty="0"/>
              <a:t>too large or too small</a:t>
            </a:r>
            <a:r>
              <a:rPr lang="en-IN" dirty="0"/>
              <a:t> as they pass through the network.</a:t>
            </a:r>
          </a:p>
          <a:p>
            <a:r>
              <a:rPr lang="en-IN" b="1" dirty="0"/>
              <a:t>Xavier does NOT update the weights during </a:t>
            </a:r>
            <a:r>
              <a:rPr lang="en-IN" b="1" dirty="0" err="1"/>
              <a:t>training.</a:t>
            </a:r>
            <a:r>
              <a:rPr lang="en-IN" dirty="0" err="1"/>
              <a:t>It</a:t>
            </a:r>
            <a:r>
              <a:rPr lang="en-IN" dirty="0"/>
              <a:t> only decides:</a:t>
            </a:r>
          </a:p>
          <a:p>
            <a:pPr marL="0" indent="0">
              <a:buNone/>
            </a:pPr>
            <a:r>
              <a:rPr lang="en-IN" b="1" dirty="0"/>
              <a:t>What values should the weights start with?.</a:t>
            </a:r>
            <a:endParaRPr lang="en-IN" dirty="0"/>
          </a:p>
          <a:p>
            <a:endParaRPr lang="en-IN" dirty="0"/>
          </a:p>
          <a:p>
            <a:pPr>
              <a:buFont typeface="Wingdings" panose="05000000000000000000" pitchFamily="2" charset="2"/>
              <a:buChar char="Ø"/>
            </a:pPr>
            <a:endParaRPr lang="en-IN" b="1" u="sng" dirty="0"/>
          </a:p>
        </p:txBody>
      </p:sp>
    </p:spTree>
    <p:extLst>
      <p:ext uri="{BB962C8B-B14F-4D97-AF65-F5344CB8AC3E}">
        <p14:creationId xmlns:p14="http://schemas.microsoft.com/office/powerpoint/2010/main" val="238816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4D80B-FCD5-2AFB-C28C-F5585AA85922}"/>
              </a:ext>
            </a:extLst>
          </p:cNvPr>
          <p:cNvSpPr>
            <a:spLocks noGrp="1"/>
          </p:cNvSpPr>
          <p:nvPr>
            <p:ph type="title"/>
          </p:nvPr>
        </p:nvSpPr>
        <p:spPr>
          <a:xfrm>
            <a:off x="838200" y="365126"/>
            <a:ext cx="10515600" cy="755752"/>
          </a:xfrm>
        </p:spPr>
        <p:txBody>
          <a:bodyPr/>
          <a:lstStyle/>
          <a:p>
            <a:r>
              <a:rPr lang="en-IN" dirty="0"/>
              <a:t>Xavier initialization in  </a:t>
            </a:r>
            <a:r>
              <a:rPr lang="en-IN" dirty="0" err="1"/>
              <a:t>Keras</a:t>
            </a:r>
            <a:r>
              <a:rPr lang="en-IN" dirty="0"/>
              <a:t> </a:t>
            </a:r>
          </a:p>
        </p:txBody>
      </p:sp>
      <p:sp>
        <p:nvSpPr>
          <p:cNvPr id="3" name="Content Placeholder 2">
            <a:extLst>
              <a:ext uri="{FF2B5EF4-FFF2-40B4-BE49-F238E27FC236}">
                <a16:creationId xmlns:a16="http://schemas.microsoft.com/office/drawing/2014/main" id="{1E9BBE5A-97E9-559A-5108-9B4ECCCCF9BA}"/>
              </a:ext>
            </a:extLst>
          </p:cNvPr>
          <p:cNvSpPr>
            <a:spLocks noGrp="1"/>
          </p:cNvSpPr>
          <p:nvPr>
            <p:ph idx="1"/>
          </p:nvPr>
        </p:nvSpPr>
        <p:spPr>
          <a:xfrm>
            <a:off x="838200" y="1219200"/>
            <a:ext cx="10515600" cy="4957763"/>
          </a:xfrm>
        </p:spPr>
        <p:txBody>
          <a:bodyPr/>
          <a:lstStyle/>
          <a:p>
            <a:pPr>
              <a:buFont typeface="Wingdings" panose="05000000000000000000" pitchFamily="2" charset="2"/>
              <a:buChar char="Ø"/>
            </a:pPr>
            <a:r>
              <a:rPr lang="en-IN" dirty="0" err="1"/>
              <a:t>kernel_initializer</a:t>
            </a:r>
            <a:r>
              <a:rPr lang="en-IN" dirty="0"/>
              <a:t>='</a:t>
            </a:r>
            <a:r>
              <a:rPr lang="en-IN" dirty="0" err="1"/>
              <a:t>glorot_uniform</a:t>
            </a:r>
            <a:r>
              <a:rPr lang="en-IN" dirty="0">
                <a:solidFill>
                  <a:srgbClr val="C00000"/>
                </a:solidFill>
              </a:rPr>
              <a:t>’   # Xavier initialization was proposed by </a:t>
            </a:r>
            <a:r>
              <a:rPr lang="en-IN" b="1" dirty="0">
                <a:solidFill>
                  <a:srgbClr val="C00000"/>
                </a:solidFill>
              </a:rPr>
              <a:t>Xavier </a:t>
            </a:r>
            <a:r>
              <a:rPr lang="en-IN" b="1" dirty="0" err="1">
                <a:solidFill>
                  <a:srgbClr val="C00000"/>
                </a:solidFill>
              </a:rPr>
              <a:t>Glorot</a:t>
            </a:r>
            <a:r>
              <a:rPr lang="en-IN" dirty="0">
                <a:solidFill>
                  <a:srgbClr val="C00000"/>
                </a:solidFill>
              </a:rPr>
              <a:t>, so in TensorFlow/</a:t>
            </a:r>
            <a:r>
              <a:rPr lang="en-IN" dirty="0" err="1">
                <a:solidFill>
                  <a:srgbClr val="C00000"/>
                </a:solidFill>
              </a:rPr>
              <a:t>Keras</a:t>
            </a:r>
            <a:r>
              <a:rPr lang="en-IN" dirty="0">
                <a:solidFill>
                  <a:srgbClr val="C00000"/>
                </a:solidFill>
              </a:rPr>
              <a:t> it is called </a:t>
            </a:r>
            <a:r>
              <a:rPr lang="en-IN" dirty="0" err="1">
                <a:solidFill>
                  <a:srgbClr val="C00000"/>
                </a:solidFill>
              </a:rPr>
              <a:t>glorot</a:t>
            </a:r>
            <a:r>
              <a:rPr lang="en-IN" dirty="0">
                <a:solidFill>
                  <a:srgbClr val="C00000"/>
                </a:solidFill>
              </a:rPr>
              <a:t>.</a:t>
            </a:r>
          </a:p>
          <a:p>
            <a:pPr>
              <a:buFont typeface="Wingdings" panose="05000000000000000000" pitchFamily="2" charset="2"/>
              <a:buChar char="Ø"/>
            </a:pPr>
            <a:r>
              <a:rPr lang="en-IN" dirty="0" err="1"/>
              <a:t>xavier_model</a:t>
            </a:r>
            <a:r>
              <a:rPr lang="en-IN" dirty="0"/>
              <a:t> = Sequential([    </a:t>
            </a:r>
            <a:r>
              <a:rPr lang="en-IN" dirty="0" err="1"/>
              <a:t>layers.Flatten</a:t>
            </a:r>
            <a:r>
              <a:rPr lang="en-IN" dirty="0"/>
              <a:t>(</a:t>
            </a:r>
            <a:r>
              <a:rPr lang="en-IN" dirty="0" err="1"/>
              <a:t>input_shape</a:t>
            </a:r>
            <a:r>
              <a:rPr lang="en-IN" dirty="0"/>
              <a:t>=(32, 32, 3)),    </a:t>
            </a:r>
            <a:r>
              <a:rPr lang="en-IN" dirty="0" err="1"/>
              <a:t>layers.Dense</a:t>
            </a:r>
            <a:r>
              <a:rPr lang="en-IN" dirty="0"/>
              <a:t>(512, activation='</a:t>
            </a:r>
            <a:r>
              <a:rPr lang="en-IN" dirty="0" err="1"/>
              <a:t>relu</a:t>
            </a:r>
            <a:r>
              <a:rPr lang="en-IN" dirty="0"/>
              <a:t>',                 </a:t>
            </a:r>
            <a:r>
              <a:rPr lang="en-IN" dirty="0" err="1"/>
              <a:t>kernel_initializer</a:t>
            </a:r>
            <a:r>
              <a:rPr lang="en-IN" dirty="0"/>
              <a:t>='</a:t>
            </a:r>
            <a:r>
              <a:rPr lang="en-IN" dirty="0" err="1"/>
              <a:t>glorot_uniform</a:t>
            </a:r>
            <a:r>
              <a:rPr lang="en-IN" dirty="0"/>
              <a:t>’),  </a:t>
            </a:r>
            <a:r>
              <a:rPr lang="en-IN" dirty="0">
                <a:solidFill>
                  <a:srgbClr val="C00000"/>
                </a:solidFill>
              </a:rPr>
              <a:t>#Creates a hidden layer with 512 neurons whose weight is initialized with </a:t>
            </a:r>
            <a:r>
              <a:rPr lang="en-IN" dirty="0" err="1">
                <a:solidFill>
                  <a:srgbClr val="C00000"/>
                </a:solidFill>
              </a:rPr>
              <a:t>glorot</a:t>
            </a:r>
            <a:endParaRPr lang="en-IN" dirty="0">
              <a:solidFill>
                <a:srgbClr val="C00000"/>
              </a:solidFill>
            </a:endParaRPr>
          </a:p>
          <a:p>
            <a:pPr algn="just"/>
            <a:r>
              <a:rPr lang="en-IN" dirty="0"/>
              <a:t>Then train the model and test the model with specific no: of epochs and </a:t>
            </a:r>
            <a:r>
              <a:rPr lang="en-IN" dirty="0" err="1"/>
              <a:t>batch_size</a:t>
            </a:r>
            <a:r>
              <a:rPr lang="en-IN" dirty="0"/>
              <a:t>. which gives the loss and accuracy rate of the current  model using </a:t>
            </a:r>
            <a:r>
              <a:rPr lang="en-IN" dirty="0" err="1"/>
              <a:t>adam</a:t>
            </a:r>
            <a:r>
              <a:rPr lang="en-IN" dirty="0"/>
              <a:t> optimizer</a:t>
            </a:r>
          </a:p>
          <a:p>
            <a:pPr algn="just"/>
            <a:r>
              <a:rPr lang="en-IN" dirty="0"/>
              <a:t>Print the values of test loss, test accuracy and training time taken.</a:t>
            </a:r>
          </a:p>
          <a:p>
            <a:endParaRPr lang="en-IN" dirty="0"/>
          </a:p>
        </p:txBody>
      </p:sp>
    </p:spTree>
    <p:extLst>
      <p:ext uri="{BB962C8B-B14F-4D97-AF65-F5344CB8AC3E}">
        <p14:creationId xmlns:p14="http://schemas.microsoft.com/office/powerpoint/2010/main" val="3805124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716CC4-6917-6E3B-FFCF-B8F6770CB7B7}"/>
              </a:ext>
            </a:extLst>
          </p:cNvPr>
          <p:cNvSpPr>
            <a:spLocks noGrp="1"/>
          </p:cNvSpPr>
          <p:nvPr>
            <p:ph idx="1"/>
          </p:nvPr>
        </p:nvSpPr>
        <p:spPr>
          <a:xfrm>
            <a:off x="838200" y="226142"/>
            <a:ext cx="10515600" cy="5950821"/>
          </a:xfrm>
        </p:spPr>
        <p:txBody>
          <a:bodyPr>
            <a:normAutofit/>
          </a:bodyPr>
          <a:lstStyle/>
          <a:p>
            <a:pPr algn="just"/>
            <a:r>
              <a:rPr lang="en-US" sz="2400" dirty="0"/>
              <a:t>Repeat the training process with Kaiming initialization for weight initialization. Compare the convergence speed and accuracy of the network with the baseline results. Analyze the impact of Kaiming initialization on the network's performance.</a:t>
            </a:r>
          </a:p>
          <a:p>
            <a:pPr marL="0" indent="0">
              <a:buNone/>
            </a:pPr>
            <a:r>
              <a:rPr lang="en-IN" sz="2400" b="1" u="sng" dirty="0"/>
              <a:t>Kaiming initialization</a:t>
            </a:r>
            <a:r>
              <a:rPr lang="en-IN" sz="2400" u="sng" dirty="0"/>
              <a:t>,</a:t>
            </a:r>
          </a:p>
          <a:p>
            <a:pPr marL="0" indent="0">
              <a:buNone/>
            </a:pPr>
            <a:r>
              <a:rPr lang="en-IN" sz="2400" dirty="0"/>
              <a:t> Also called </a:t>
            </a:r>
            <a:r>
              <a:rPr lang="en-IN" sz="2400" b="1" dirty="0"/>
              <a:t>He initialization</a:t>
            </a:r>
            <a:r>
              <a:rPr lang="en-IN" sz="2400" dirty="0"/>
              <a:t>, is a technique used to choose the </a:t>
            </a:r>
            <a:r>
              <a:rPr lang="en-IN" sz="2400" b="1" dirty="0"/>
              <a:t>initial values of the weights</a:t>
            </a:r>
            <a:r>
              <a:rPr lang="en-IN" sz="2400" dirty="0"/>
              <a:t> in a neural network.</a:t>
            </a:r>
          </a:p>
          <a:p>
            <a:r>
              <a:rPr lang="en-IN" sz="2400" dirty="0"/>
              <a:t>It is designed especially for networks that use the </a:t>
            </a:r>
            <a:r>
              <a:rPr lang="en-IN" sz="2400" b="1" dirty="0" err="1"/>
              <a:t>ReLU</a:t>
            </a:r>
            <a:r>
              <a:rPr lang="en-IN" sz="2400" b="1" dirty="0"/>
              <a:t> activation function</a:t>
            </a:r>
            <a:r>
              <a:rPr lang="en-IN" sz="2400" dirty="0"/>
              <a:t>.</a:t>
            </a:r>
          </a:p>
          <a:p>
            <a:r>
              <a:rPr lang="en-IN" sz="2400" dirty="0"/>
              <a:t>Kaiming (He) initialization is a weight initialization technique designed mainly for </a:t>
            </a:r>
            <a:r>
              <a:rPr lang="en-IN" sz="2400" dirty="0" err="1"/>
              <a:t>ReLU</a:t>
            </a:r>
            <a:r>
              <a:rPr lang="en-IN" sz="2400" dirty="0"/>
              <a:t>-based neural networks to maintain stable activations and gradients during training.</a:t>
            </a:r>
          </a:p>
          <a:p>
            <a:r>
              <a:rPr lang="en-US" sz="2400" dirty="0" err="1">
                <a:solidFill>
                  <a:srgbClr val="FF0000"/>
                </a:solidFill>
              </a:rPr>
              <a:t>layers.Dense</a:t>
            </a:r>
            <a:r>
              <a:rPr lang="en-US" sz="2400" dirty="0">
                <a:solidFill>
                  <a:srgbClr val="FF0000"/>
                </a:solidFill>
              </a:rPr>
              <a:t>(    512,    activation='</a:t>
            </a:r>
            <a:r>
              <a:rPr lang="en-US" sz="2400" dirty="0" err="1">
                <a:solidFill>
                  <a:srgbClr val="FF0000"/>
                </a:solidFill>
              </a:rPr>
              <a:t>relu</a:t>
            </a:r>
            <a:r>
              <a:rPr lang="en-US" sz="2400" dirty="0">
                <a:solidFill>
                  <a:srgbClr val="FF0000"/>
                </a:solidFill>
              </a:rPr>
              <a:t>',    </a:t>
            </a:r>
            <a:r>
              <a:rPr lang="en-US" sz="2400" dirty="0" err="1">
                <a:solidFill>
                  <a:srgbClr val="FF0000"/>
                </a:solidFill>
              </a:rPr>
              <a:t>kernel_initializer</a:t>
            </a:r>
            <a:r>
              <a:rPr lang="en-US" sz="2400" dirty="0">
                <a:solidFill>
                  <a:srgbClr val="FF0000"/>
                </a:solidFill>
              </a:rPr>
              <a:t>='</a:t>
            </a:r>
            <a:r>
              <a:rPr lang="en-US" sz="2400" dirty="0" err="1">
                <a:solidFill>
                  <a:srgbClr val="FF0000"/>
                </a:solidFill>
              </a:rPr>
              <a:t>he_normal</a:t>
            </a:r>
            <a:r>
              <a:rPr lang="en-US" sz="2400" dirty="0">
                <a:solidFill>
                  <a:srgbClr val="FF0000"/>
                </a:solidFill>
              </a:rPr>
              <a:t>')</a:t>
            </a:r>
            <a:endParaRPr lang="en-IN" sz="2400" dirty="0">
              <a:solidFill>
                <a:srgbClr val="FF0000"/>
              </a:solidFill>
            </a:endParaRPr>
          </a:p>
          <a:p>
            <a:pPr algn="just"/>
            <a:endParaRPr lang="en-IN" sz="2400" dirty="0"/>
          </a:p>
        </p:txBody>
      </p:sp>
    </p:spTree>
    <p:extLst>
      <p:ext uri="{BB962C8B-B14F-4D97-AF65-F5344CB8AC3E}">
        <p14:creationId xmlns:p14="http://schemas.microsoft.com/office/powerpoint/2010/main" val="465323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188D83-4669-1C81-0EC5-2578FDEC2B44}"/>
              </a:ext>
            </a:extLst>
          </p:cNvPr>
          <p:cNvSpPr>
            <a:spLocks noGrp="1"/>
          </p:cNvSpPr>
          <p:nvPr>
            <p:ph idx="1"/>
          </p:nvPr>
        </p:nvSpPr>
        <p:spPr>
          <a:xfrm>
            <a:off x="838200" y="334297"/>
            <a:ext cx="10515600" cy="5842666"/>
          </a:xfrm>
        </p:spPr>
        <p:txBody>
          <a:bodyPr>
            <a:normAutofit/>
          </a:bodyPr>
          <a:lstStyle/>
          <a:p>
            <a:pPr algn="just"/>
            <a:r>
              <a:rPr lang="en-US" sz="2400" dirty="0"/>
              <a:t>Implement dropout regularization by applying dropout to the hidden layers of the network. Train the network with dropout regularization and compare its performance with the baseline results. Analyze the impact of dropout on the network's performance in terms of accuracy and overfitting.</a:t>
            </a:r>
          </a:p>
          <a:p>
            <a:pPr marL="0" indent="0" algn="just">
              <a:buNone/>
            </a:pPr>
            <a:r>
              <a:rPr lang="en-US" sz="2400" b="1" u="sng" dirty="0"/>
              <a:t>Dropout</a:t>
            </a:r>
          </a:p>
          <a:p>
            <a:pPr algn="just">
              <a:buFont typeface="Wingdings" panose="05000000000000000000" pitchFamily="2" charset="2"/>
              <a:buChar char="Ø"/>
            </a:pPr>
            <a:r>
              <a:rPr lang="en-IN" sz="2400" dirty="0"/>
              <a:t>Dropout is a </a:t>
            </a:r>
            <a:r>
              <a:rPr lang="en-IN" sz="2400" b="1" dirty="0"/>
              <a:t>regularization technique used to reduce overfitting</a:t>
            </a:r>
            <a:r>
              <a:rPr lang="en-IN" sz="2400" dirty="0"/>
              <a:t>.</a:t>
            </a:r>
          </a:p>
          <a:p>
            <a:pPr algn="just">
              <a:buFont typeface="Wingdings" panose="05000000000000000000" pitchFamily="2" charset="2"/>
              <a:buChar char="Ø"/>
            </a:pPr>
            <a:r>
              <a:rPr lang="en-IN" sz="2400" dirty="0"/>
              <a:t>During training, dropout randomly switches off some neurons.</a:t>
            </a:r>
          </a:p>
          <a:p>
            <a:pPr algn="just">
              <a:buFont typeface="Wingdings" panose="05000000000000000000" pitchFamily="2" charset="2"/>
              <a:buChar char="Ø"/>
            </a:pPr>
            <a:r>
              <a:rPr lang="en-IN" sz="2400" dirty="0"/>
              <a:t>In the next step, a different set of neurons may be switched off.</a:t>
            </a:r>
          </a:p>
          <a:p>
            <a:pPr algn="just">
              <a:buFont typeface="Wingdings" panose="05000000000000000000" pitchFamily="2" charset="2"/>
              <a:buChar char="Ø"/>
            </a:pPr>
            <a:r>
              <a:rPr lang="en-IN" sz="2400" dirty="0"/>
              <a:t>Without dropout, the network may become too dependent on particular neurons and </a:t>
            </a:r>
            <a:r>
              <a:rPr lang="en-IN" sz="2400" b="1" dirty="0"/>
              <a:t>memorize the training data</a:t>
            </a:r>
            <a:r>
              <a:rPr lang="en-IN" sz="2400" dirty="0"/>
              <a:t>.</a:t>
            </a:r>
          </a:p>
          <a:p>
            <a:pPr algn="just">
              <a:buFont typeface="Wingdings" panose="05000000000000000000" pitchFamily="2" charset="2"/>
              <a:buChar char="Ø"/>
            </a:pPr>
            <a:r>
              <a:rPr lang="en-IN" sz="2400" dirty="0"/>
              <a:t>Dropout forces the network to learn more general features.</a:t>
            </a:r>
          </a:p>
          <a:p>
            <a:pPr algn="just">
              <a:buFont typeface="Wingdings" panose="05000000000000000000" pitchFamily="2" charset="2"/>
              <a:buChar char="Ø"/>
            </a:pPr>
            <a:r>
              <a:rPr lang="en-IN" sz="2400" dirty="0">
                <a:hlinkClick r:id="rId2">
                  <a:extLst>
                    <a:ext uri="{A12FA001-AC4F-418D-AE19-62706E023703}">
                      <ahyp:hlinkClr xmlns:ahyp="http://schemas.microsoft.com/office/drawing/2018/hyperlinkcolor" val="tx"/>
                    </a:ext>
                  </a:extLst>
                </a:hlinkClick>
              </a:rPr>
              <a:t>Dropout</a:t>
            </a:r>
            <a:r>
              <a:rPr lang="en-IN" sz="2400" dirty="0"/>
              <a:t> is needed because it prevents the network from relying too much on specific neurons, hence improving generalisation by training and reducing co-adaptation among neurons.</a:t>
            </a:r>
          </a:p>
        </p:txBody>
      </p:sp>
    </p:spTree>
    <p:extLst>
      <p:ext uri="{BB962C8B-B14F-4D97-AF65-F5344CB8AC3E}">
        <p14:creationId xmlns:p14="http://schemas.microsoft.com/office/powerpoint/2010/main" val="1777227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E809B7-A930-6CEC-8671-8542545DB890}"/>
              </a:ext>
            </a:extLst>
          </p:cNvPr>
          <p:cNvSpPr>
            <a:spLocks noGrp="1"/>
          </p:cNvSpPr>
          <p:nvPr>
            <p:ph idx="1"/>
          </p:nvPr>
        </p:nvSpPr>
        <p:spPr>
          <a:xfrm>
            <a:off x="838200" y="363794"/>
            <a:ext cx="10515600" cy="5813169"/>
          </a:xfrm>
        </p:spPr>
        <p:txBody>
          <a:bodyPr/>
          <a:lstStyle/>
          <a:p>
            <a:r>
              <a:rPr lang="en-IN" dirty="0"/>
              <a:t>Code for dropout</a:t>
            </a:r>
          </a:p>
          <a:p>
            <a:pPr marL="0" indent="0">
              <a:buNone/>
            </a:pPr>
            <a:r>
              <a:rPr lang="en-IN" dirty="0" err="1"/>
              <a:t>dropout_model</a:t>
            </a:r>
            <a:r>
              <a:rPr lang="en-IN" dirty="0"/>
              <a:t> = Sequential([    </a:t>
            </a:r>
            <a:r>
              <a:rPr lang="en-IN" dirty="0" err="1"/>
              <a:t>layers.Flatten</a:t>
            </a:r>
            <a:r>
              <a:rPr lang="en-IN" dirty="0"/>
              <a:t>(</a:t>
            </a:r>
            <a:r>
              <a:rPr lang="en-IN" dirty="0" err="1"/>
              <a:t>input_shape</a:t>
            </a:r>
            <a:r>
              <a:rPr lang="en-IN" dirty="0"/>
              <a:t>=(32,32,3)),    </a:t>
            </a:r>
            <a:r>
              <a:rPr lang="en-IN" dirty="0" err="1"/>
              <a:t>layers.Dense</a:t>
            </a:r>
            <a:r>
              <a:rPr lang="en-IN" dirty="0"/>
              <a:t>(512, activation='</a:t>
            </a:r>
            <a:r>
              <a:rPr lang="en-IN" dirty="0" err="1"/>
              <a:t>relu</a:t>
            </a:r>
            <a:r>
              <a:rPr lang="en-IN" dirty="0"/>
              <a:t>'),    </a:t>
            </a:r>
            <a:r>
              <a:rPr lang="en-IN" dirty="0" err="1"/>
              <a:t>layers.Dropout</a:t>
            </a:r>
            <a:r>
              <a:rPr lang="en-IN" dirty="0"/>
              <a:t>(0.5),    </a:t>
            </a:r>
            <a:r>
              <a:rPr lang="en-IN" dirty="0" err="1"/>
              <a:t>layers.Dense</a:t>
            </a:r>
            <a:r>
              <a:rPr lang="en-IN" dirty="0"/>
              <a:t>(256, activation='</a:t>
            </a:r>
            <a:r>
              <a:rPr lang="en-IN" dirty="0" err="1"/>
              <a:t>relu</a:t>
            </a:r>
            <a:r>
              <a:rPr lang="en-IN" dirty="0"/>
              <a:t>'),    </a:t>
            </a:r>
            <a:r>
              <a:rPr lang="en-IN" dirty="0" err="1"/>
              <a:t>layers.Dropout</a:t>
            </a:r>
            <a:r>
              <a:rPr lang="en-IN" dirty="0"/>
              <a:t>(0.5),    </a:t>
            </a:r>
            <a:r>
              <a:rPr lang="en-IN" dirty="0" err="1"/>
              <a:t>layers.Dense</a:t>
            </a:r>
            <a:r>
              <a:rPr lang="en-IN" dirty="0"/>
              <a:t>(64, activation='</a:t>
            </a:r>
            <a:r>
              <a:rPr lang="en-IN" dirty="0" err="1"/>
              <a:t>relu</a:t>
            </a:r>
            <a:r>
              <a:rPr lang="en-IN" dirty="0"/>
              <a:t>'),    </a:t>
            </a:r>
            <a:r>
              <a:rPr lang="en-IN" dirty="0" err="1"/>
              <a:t>layers.Dropout</a:t>
            </a:r>
            <a:r>
              <a:rPr lang="en-IN" dirty="0"/>
              <a:t>(0.5),    </a:t>
            </a:r>
            <a:r>
              <a:rPr lang="en-IN" dirty="0" err="1"/>
              <a:t>layers.Dense</a:t>
            </a:r>
            <a:r>
              <a:rPr lang="en-IN" dirty="0"/>
              <a:t>(10, activation='</a:t>
            </a:r>
            <a:r>
              <a:rPr lang="en-IN" dirty="0" err="1"/>
              <a:t>softmax</a:t>
            </a:r>
            <a:r>
              <a:rPr lang="en-IN" dirty="0"/>
              <a:t>')])</a:t>
            </a:r>
          </a:p>
          <a:p>
            <a:pPr marL="0" indent="0">
              <a:buNone/>
            </a:pPr>
            <a:r>
              <a:rPr lang="en-IN" dirty="0" err="1"/>
              <a:t>layers.Dropout</a:t>
            </a:r>
            <a:r>
              <a:rPr lang="en-IN" dirty="0"/>
              <a:t>(0.5) - During training, </a:t>
            </a:r>
            <a:r>
              <a:rPr lang="en-IN" dirty="0" err="1"/>
              <a:t>Keras</a:t>
            </a:r>
            <a:r>
              <a:rPr lang="en-IN" dirty="0"/>
              <a:t> randomly makes approximately </a:t>
            </a:r>
            <a:r>
              <a:rPr lang="en-IN" b="1" dirty="0"/>
              <a:t>50% of</a:t>
            </a:r>
            <a:r>
              <a:rPr lang="en-IN" dirty="0"/>
              <a:t> The purpose is to </a:t>
            </a:r>
            <a:r>
              <a:rPr lang="en-IN" b="1" dirty="0"/>
              <a:t>reduce overfitting</a:t>
            </a:r>
            <a:r>
              <a:rPr lang="en-IN" dirty="0"/>
              <a:t>.</a:t>
            </a:r>
            <a:r>
              <a:rPr lang="en-IN" b="1" dirty="0"/>
              <a:t> the neurons inactive for that training step</a:t>
            </a:r>
            <a:r>
              <a:rPr lang="en-IN" dirty="0"/>
              <a:t>.</a:t>
            </a:r>
          </a:p>
        </p:txBody>
      </p:sp>
    </p:spTree>
    <p:extLst>
      <p:ext uri="{BB962C8B-B14F-4D97-AF65-F5344CB8AC3E}">
        <p14:creationId xmlns:p14="http://schemas.microsoft.com/office/powerpoint/2010/main" val="1769951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C7C1D6-0CBC-DCDF-925E-5A950467FDC7}"/>
              </a:ext>
            </a:extLst>
          </p:cNvPr>
          <p:cNvSpPr>
            <a:spLocks noGrp="1"/>
          </p:cNvSpPr>
          <p:nvPr>
            <p:ph idx="1"/>
          </p:nvPr>
        </p:nvSpPr>
        <p:spPr>
          <a:xfrm>
            <a:off x="838200" y="167148"/>
            <a:ext cx="10515600" cy="6302478"/>
          </a:xfrm>
        </p:spPr>
        <p:txBody>
          <a:bodyPr>
            <a:normAutofit fontScale="92500"/>
          </a:bodyPr>
          <a:lstStyle/>
          <a:p>
            <a:pPr algn="just"/>
            <a:r>
              <a:rPr lang="en-US" sz="2400" dirty="0"/>
              <a:t>Implement L1 or L2 regularization techniques by adding a regularization term to the loss function during training. Train the network with regularization and compare its performance with the baseline results. Analyze the impact of regularization on the network's performance in terms of accuracy and prevention of overfitting.</a:t>
            </a:r>
          </a:p>
          <a:p>
            <a:pPr marL="0" indent="0" algn="just">
              <a:buNone/>
            </a:pPr>
            <a:r>
              <a:rPr lang="en-US" sz="2400" b="1" u="sng" dirty="0"/>
              <a:t>Overfitting &amp; Regularization</a:t>
            </a:r>
          </a:p>
          <a:p>
            <a:pPr algn="just">
              <a:buFont typeface="Wingdings" panose="05000000000000000000" pitchFamily="2" charset="2"/>
              <a:buChar char="Ø"/>
            </a:pPr>
            <a:r>
              <a:rPr lang="en-IN" sz="2400" dirty="0"/>
              <a:t>Regularization is a technique used in machine learning to prevent overfitting, which otherwise causes models to perform poorly on unseen data. By adding a penalty for complexity, regularization encourages simpler and more generalizable models.</a:t>
            </a:r>
          </a:p>
          <a:p>
            <a:pPr algn="just" fontAlgn="base">
              <a:buFont typeface="Wingdings" panose="05000000000000000000" pitchFamily="2" charset="2"/>
              <a:buChar char="Ø"/>
            </a:pPr>
            <a:r>
              <a:rPr lang="en-IN" sz="2400" b="1" dirty="0"/>
              <a:t>1. Lasso Regression</a:t>
            </a:r>
          </a:p>
          <a:p>
            <a:pPr algn="just" fontAlgn="base"/>
            <a:r>
              <a:rPr lang="en-IN" sz="2400" dirty="0"/>
              <a:t>A regression model which uses the L1 Regularization technique is called </a:t>
            </a:r>
            <a:r>
              <a:rPr lang="en-IN" sz="2400" u="sng" dirty="0">
                <a:hlinkClick r:id="rId2"/>
              </a:rPr>
              <a:t>LASSO (Least Absolute Shrinkage and Selection Operator)</a:t>
            </a:r>
            <a:r>
              <a:rPr lang="en-IN" sz="2400" dirty="0"/>
              <a:t> regression. It adds the absolute value of magnitude of the coefficient as a penalty term to the loss function(L)</a:t>
            </a:r>
          </a:p>
          <a:p>
            <a:pPr algn="just" fontAlgn="base">
              <a:buFont typeface="Wingdings" panose="05000000000000000000" pitchFamily="2" charset="2"/>
              <a:buChar char="Ø"/>
            </a:pPr>
            <a:r>
              <a:rPr lang="en-IN" b="1" dirty="0"/>
              <a:t>2.</a:t>
            </a:r>
            <a:r>
              <a:rPr lang="en-IN" sz="2400" b="1" dirty="0"/>
              <a:t>Ridge Regression</a:t>
            </a:r>
          </a:p>
          <a:p>
            <a:pPr algn="just" fontAlgn="base"/>
            <a:r>
              <a:rPr lang="en-IN" sz="2400" dirty="0"/>
              <a:t>A regression model that uses the L2 regularization technique is called </a:t>
            </a:r>
            <a:r>
              <a:rPr lang="en-IN" sz="2400" dirty="0">
                <a:hlinkClick r:id="rId3">
                  <a:extLst>
                    <a:ext uri="{A12FA001-AC4F-418D-AE19-62706E023703}">
                      <ahyp:hlinkClr xmlns:ahyp="http://schemas.microsoft.com/office/drawing/2018/hyperlinkcolor" val="tx"/>
                    </a:ext>
                  </a:extLst>
                </a:hlinkClick>
              </a:rPr>
              <a:t>Ridge regression</a:t>
            </a:r>
            <a:r>
              <a:rPr lang="en-IN" sz="2400" dirty="0"/>
              <a:t>. It adds the squared magnitude of the coefficient as a penalty term to the loss function(L)</a:t>
            </a:r>
          </a:p>
          <a:p>
            <a:pPr marL="0" indent="0" algn="just" fontAlgn="base">
              <a:buNone/>
            </a:pPr>
            <a:endParaRPr lang="en-IN" sz="2400" dirty="0"/>
          </a:p>
          <a:p>
            <a:pPr algn="just">
              <a:buFont typeface="Wingdings" panose="05000000000000000000" pitchFamily="2" charset="2"/>
              <a:buChar char="Ø"/>
            </a:pPr>
            <a:endParaRPr lang="en-IN" sz="2400" b="1" u="sng" dirty="0"/>
          </a:p>
        </p:txBody>
      </p:sp>
    </p:spTree>
    <p:extLst>
      <p:ext uri="{BB962C8B-B14F-4D97-AF65-F5344CB8AC3E}">
        <p14:creationId xmlns:p14="http://schemas.microsoft.com/office/powerpoint/2010/main" val="4043181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13F5D-0933-EB5D-CDD8-0233CD4B6D0B}"/>
              </a:ext>
            </a:extLst>
          </p:cNvPr>
          <p:cNvSpPr>
            <a:spLocks noGrp="1"/>
          </p:cNvSpPr>
          <p:nvPr>
            <p:ph idx="1"/>
          </p:nvPr>
        </p:nvSpPr>
        <p:spPr>
          <a:xfrm>
            <a:off x="838200" y="619432"/>
            <a:ext cx="10515600" cy="5557531"/>
          </a:xfrm>
        </p:spPr>
        <p:txBody>
          <a:bodyPr>
            <a:normAutofit/>
          </a:bodyPr>
          <a:lstStyle/>
          <a:p>
            <a:r>
              <a:rPr lang="en-IN" dirty="0" err="1"/>
              <a:t>layers.Dense</a:t>
            </a:r>
            <a:r>
              <a:rPr lang="en-IN" dirty="0"/>
              <a:t>(    512,    activation='</a:t>
            </a:r>
            <a:r>
              <a:rPr lang="en-IN" dirty="0" err="1"/>
              <a:t>relu</a:t>
            </a:r>
            <a:r>
              <a:rPr lang="en-IN" dirty="0"/>
              <a:t>',    </a:t>
            </a:r>
            <a:r>
              <a:rPr lang="en-IN" dirty="0" err="1"/>
              <a:t>kernel_regularizer</a:t>
            </a:r>
            <a:r>
              <a:rPr lang="en-IN" dirty="0"/>
              <a:t>=tf.keras.regularizers.l1(0.001))</a:t>
            </a:r>
          </a:p>
          <a:p>
            <a:r>
              <a:rPr lang="en-IN" dirty="0" err="1"/>
              <a:t>layers.Dense</a:t>
            </a:r>
            <a:r>
              <a:rPr lang="en-IN" dirty="0"/>
              <a:t>(    512,    activation='</a:t>
            </a:r>
            <a:r>
              <a:rPr lang="en-IN" dirty="0" err="1"/>
              <a:t>relu</a:t>
            </a:r>
            <a:r>
              <a:rPr lang="en-IN" dirty="0"/>
              <a:t>',    </a:t>
            </a:r>
            <a:r>
              <a:rPr lang="en-IN" dirty="0" err="1"/>
              <a:t>kernel_regularizer</a:t>
            </a:r>
            <a:r>
              <a:rPr lang="en-IN" dirty="0"/>
              <a:t>=tf.keras.regularizers.l2(0.001))</a:t>
            </a:r>
          </a:p>
          <a:p>
            <a:r>
              <a:rPr lang="en-IN" dirty="0"/>
              <a:t>0.001 value controls how strongly the model is penalized for having large weights.</a:t>
            </a:r>
          </a:p>
          <a:p>
            <a:r>
              <a:rPr lang="en-US" dirty="0"/>
              <a:t> 0 - No  regularization</a:t>
            </a:r>
          </a:p>
          <a:p>
            <a:r>
              <a:rPr lang="en-US" dirty="0"/>
              <a:t>0.0001 - Very small penalty</a:t>
            </a:r>
          </a:p>
          <a:p>
            <a:r>
              <a:rPr lang="en-US" dirty="0"/>
              <a:t>0.001 - Moderate penalty</a:t>
            </a:r>
          </a:p>
          <a:p>
            <a:r>
              <a:rPr lang="en-US" dirty="0"/>
              <a:t>0.01 - Stronger penalty</a:t>
            </a:r>
          </a:p>
          <a:p>
            <a:r>
              <a:rPr lang="en-US" dirty="0"/>
              <a:t>0.1 - Very strong penalty</a:t>
            </a:r>
            <a:endParaRPr lang="en-IN" dirty="0"/>
          </a:p>
        </p:txBody>
      </p:sp>
    </p:spTree>
    <p:extLst>
      <p:ext uri="{BB962C8B-B14F-4D97-AF65-F5344CB8AC3E}">
        <p14:creationId xmlns:p14="http://schemas.microsoft.com/office/powerpoint/2010/main" val="1271856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1427</Words>
  <Application>Microsoft Office PowerPoint</Application>
  <PresentationFormat>Widescreen</PresentationFormat>
  <Paragraphs>79</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Experiment no: 4</vt:lpstr>
      <vt:lpstr>AIM</vt:lpstr>
      <vt:lpstr>PowerPoint Presentation</vt:lpstr>
      <vt:lpstr>Adam optimizer</vt:lpstr>
      <vt:lpstr>Adam optimizer</vt:lpstr>
      <vt:lpstr>PowerPoint Presentation</vt:lpstr>
      <vt:lpstr>Xavier initialization in  Keras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sreeresmits@gmail.com</dc:creator>
  <cp:lastModifiedBy>sreeresmits@gmail.com</cp:lastModifiedBy>
  <cp:revision>7</cp:revision>
  <dcterms:created xsi:type="dcterms:W3CDTF">2026-08-16T17:33:05Z</dcterms:created>
  <dcterms:modified xsi:type="dcterms:W3CDTF">2026-08-17T05:00:06Z</dcterms:modified>
</cp:coreProperties>
</file>